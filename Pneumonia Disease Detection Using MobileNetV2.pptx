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8"/>
  </p:notesMasterIdLst>
  <p:handoutMasterIdLst>
    <p:handoutMasterId r:id="rId29"/>
  </p:handoutMasterIdLst>
  <p:sldIdLst>
    <p:sldId id="423" r:id="rId5"/>
    <p:sldId id="383" r:id="rId6"/>
    <p:sldId id="391" r:id="rId7"/>
    <p:sldId id="408" r:id="rId8"/>
    <p:sldId id="411" r:id="rId9"/>
    <p:sldId id="404" r:id="rId10"/>
    <p:sldId id="412" r:id="rId11"/>
    <p:sldId id="413" r:id="rId12"/>
    <p:sldId id="427" r:id="rId13"/>
    <p:sldId id="414" r:id="rId14"/>
    <p:sldId id="403" r:id="rId15"/>
    <p:sldId id="415" r:id="rId16"/>
    <p:sldId id="416" r:id="rId17"/>
    <p:sldId id="424" r:id="rId18"/>
    <p:sldId id="418" r:id="rId19"/>
    <p:sldId id="425" r:id="rId20"/>
    <p:sldId id="426" r:id="rId21"/>
    <p:sldId id="417" r:id="rId22"/>
    <p:sldId id="420" r:id="rId23"/>
    <p:sldId id="419" r:id="rId24"/>
    <p:sldId id="421" r:id="rId25"/>
    <p:sldId id="422" r:id="rId26"/>
    <p:sldId id="39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27" autoAdjust="0"/>
  </p:normalViewPr>
  <p:slideViewPr>
    <p:cSldViewPr snapToGrid="0">
      <p:cViewPr varScale="1">
        <p:scale>
          <a:sx n="95" d="100"/>
          <a:sy n="95" d="100"/>
        </p:scale>
        <p:origin x="163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5/22/2025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5/22/2025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0C219-FDB2-5CDA-F3BA-7EB2CBE39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0A178C-7CDF-34C7-53A6-5829A51E2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DAD8D5-EBA8-4789-B4B6-DE6B9A10D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D00AB-82ED-B776-B66E-C368C9520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533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0F27C-47DF-9885-4019-67629FD26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66CFC2-E034-930F-79A6-29ECF6DA6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275F92-078F-233C-A992-C41F078BB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06FB4-5617-87CB-DEB9-B2393E5EED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4540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D5341-568C-1988-71A2-EBCB7732F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AF748F-C6B8-690A-848D-49F1CD7D19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059E0-F81D-63DF-3AA2-2E74A35E66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705C1-4BC6-68C3-0331-2A03C3D44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2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0711E-CB75-5B17-1044-089796047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61B770-81CC-9358-7ADF-749BA9B350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14BD4E-3060-1C94-25B1-DA893A0DA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E8CB4-EF2A-0687-3D01-43B2CA696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533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73435-C442-C2EF-84D0-D809EE4A5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0001B2-9214-F028-C59A-F644DBCC0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D2509A-9E16-C47B-3BBB-B817B35B7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1D5E8-98DA-8A01-1B7D-C9EF938005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137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D2604-9043-E6D8-2D37-6B819AF69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ACEE93-E850-446C-2122-D3EB8268F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E6723D-1A3A-B8D1-CABB-D9C40D32D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9E45A-D003-CD2E-C491-C3CCD5EA3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7181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2ECA3-E78D-C998-07EB-2CC16D4F1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9D57B-1919-5C0C-4CDF-FEBC3073D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E5083-E813-B7E9-292F-FCB3C4A53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F358E-D273-6530-068B-FC73C8C00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2989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47D54-90C0-FCC5-28E8-5D9154F34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5476CA-6093-E6AE-69E8-5E06EC3A0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CB4803-C12C-BA65-AFB1-D6047BBA7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626B2-8B55-37D8-AFD5-9DEB497A33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9812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2E7D9-2E08-DC00-1D0D-D0F81E83B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D82AA0-FC87-292A-883D-73DFFAD22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2A4736-B5B2-E775-171D-95CC7E830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39C22-5C69-A3A5-062F-D671501C9F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5256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6221E-AE2A-A3F1-3883-AFE0ECE34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303BAC-08F4-F8C2-0BBA-EBF9CE231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9B9C89-4012-6EE2-1DBC-5C48ED952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27CE4-6C3C-B678-A6C4-3A88DB3484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6616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D5317-F539-942A-C878-455458A8E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994C8D-306C-CDFC-3CC0-78FDF2F4C5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771CE5-46C0-ABBD-530A-8E112099D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243D0-0898-3BB3-5278-93361E144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3284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D655B-2E10-73F2-4325-F8C0E7C42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B9C636-9727-BEEA-1B25-C77843C68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04C2A-FE9A-E1DE-D8AA-2297E9BD8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B30EC-FFD7-A75C-96FF-E2EACD3503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0064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0F8F130-94DC-7D51-9952-59C2485FBB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9589" y="411479"/>
            <a:ext cx="5882096" cy="3291840"/>
          </a:xfrm>
        </p:spPr>
        <p:txBody>
          <a:bodyPr/>
          <a:lstStyle/>
          <a:p>
            <a:r>
              <a:rPr lang="en-GB" sz="2800" dirty="0"/>
              <a:t>PNEUMONIA DISEASE DETECTION USING MOBILENETV2 IN DEEP LEARNING</a:t>
            </a:r>
            <a:endParaRPr lang="en-IN" sz="2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FE5F767-4D5F-61CC-82A8-6FB6FAFA20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05631" y="4254912"/>
            <a:ext cx="5986370" cy="2347224"/>
          </a:xfrm>
        </p:spPr>
        <p:txBody>
          <a:bodyPr/>
          <a:lstStyle/>
          <a:p>
            <a:r>
              <a:rPr lang="en-IN" sz="2000" dirty="0"/>
              <a:t>NAME: RAVIN RAJ S</a:t>
            </a:r>
          </a:p>
          <a:p>
            <a:r>
              <a:rPr lang="en-IN" sz="2000" dirty="0"/>
              <a:t>REGISTER NUMBER: 23322009</a:t>
            </a:r>
          </a:p>
          <a:p>
            <a:r>
              <a:rPr lang="en-IN" sz="2000" dirty="0"/>
              <a:t>COURSE: MASTER OF COMPUTER APPLICATIONS</a:t>
            </a:r>
          </a:p>
          <a:p>
            <a:r>
              <a:rPr lang="en-IN" sz="2000" dirty="0"/>
              <a:t>INSTITUTE: THE GANDHIGRAM RURAL INSTITUTE</a:t>
            </a:r>
          </a:p>
          <a:p>
            <a:r>
              <a:rPr lang="en-IN" sz="2000" dirty="0"/>
              <a:t>GUIDE: DR. M.MARY SHANTHI RANI, MCA.,M.PHIL.,P.HD</a:t>
            </a:r>
          </a:p>
          <a:p>
            <a:r>
              <a:rPr lang="en-IN" sz="2000" dirty="0"/>
              <a:t>DATE: MAY 2025</a:t>
            </a:r>
          </a:p>
        </p:txBody>
      </p:sp>
    </p:spTree>
    <p:extLst>
      <p:ext uri="{BB962C8B-B14F-4D97-AF65-F5344CB8AC3E}">
        <p14:creationId xmlns:p14="http://schemas.microsoft.com/office/powerpoint/2010/main" val="8896427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4" y="2281239"/>
            <a:ext cx="4427455" cy="4576762"/>
          </a:xfrm>
        </p:spPr>
        <p:txBody>
          <a:bodyPr tIns="457200">
            <a:normAutofit/>
          </a:bodyPr>
          <a:lstStyle/>
          <a:p>
            <a:r>
              <a:rPr lang="en-IN" sz="2000" dirty="0"/>
              <a:t>Introduction</a:t>
            </a:r>
          </a:p>
          <a:p>
            <a:r>
              <a:rPr lang="en-IN" sz="2000" dirty="0"/>
              <a:t>Problem Statement</a:t>
            </a:r>
          </a:p>
          <a:p>
            <a:r>
              <a:rPr lang="en-IN" sz="2000" dirty="0"/>
              <a:t>Objective</a:t>
            </a:r>
          </a:p>
          <a:p>
            <a:r>
              <a:rPr lang="en-IN" sz="2000" dirty="0"/>
              <a:t>Dataset Description</a:t>
            </a:r>
          </a:p>
          <a:p>
            <a:r>
              <a:rPr lang="en-IN" sz="2000" dirty="0"/>
              <a:t>Image Preprocessing</a:t>
            </a:r>
          </a:p>
          <a:p>
            <a:r>
              <a:rPr lang="en-IN" sz="2000" dirty="0"/>
              <a:t>Model Architecture</a:t>
            </a:r>
          </a:p>
          <a:p>
            <a:r>
              <a:rPr lang="en-IN" sz="2000" dirty="0"/>
              <a:t>Model Training Setup</a:t>
            </a:r>
          </a:p>
          <a:p>
            <a:r>
              <a:rPr lang="en-IN" sz="2000" dirty="0"/>
              <a:t>Performance Evaluation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32568CC-ABE7-25C0-A566-0755034984C7}"/>
              </a:ext>
            </a:extLst>
          </p:cNvPr>
          <p:cNvSpPr txBox="1">
            <a:spLocks/>
          </p:cNvSpPr>
          <p:nvPr/>
        </p:nvSpPr>
        <p:spPr>
          <a:xfrm>
            <a:off x="5021179" y="2281239"/>
            <a:ext cx="7170821" cy="4576762"/>
          </a:xfrm>
          <a:prstGeom prst="rect">
            <a:avLst/>
          </a:prstGeom>
        </p:spPr>
        <p:txBody>
          <a:bodyPr vert="horz" lIns="0" tIns="457200" rIns="0" bIns="0" rtlCol="0">
            <a:normAutofit/>
          </a:bodyPr>
          <a:lstStyle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Mobile App Deployment</a:t>
            </a:r>
          </a:p>
          <a:p>
            <a:r>
              <a:rPr lang="en-GB" sz="2000" dirty="0"/>
              <a:t>Implementation Details</a:t>
            </a:r>
          </a:p>
          <a:p>
            <a:r>
              <a:rPr lang="en-GB" sz="2000" dirty="0"/>
              <a:t>System Advantages</a:t>
            </a:r>
          </a:p>
          <a:p>
            <a:r>
              <a:rPr lang="en-GB" sz="2000" dirty="0"/>
              <a:t>Future Enhancements</a:t>
            </a:r>
          </a:p>
          <a:p>
            <a:r>
              <a:rPr lang="en-GB" sz="2000" dirty="0"/>
              <a:t>Conclusion</a:t>
            </a:r>
          </a:p>
          <a:p>
            <a:r>
              <a:rPr lang="en-GB" sz="2000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14450"/>
            <a:ext cx="10972800" cy="1574317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2" y="2676525"/>
            <a:ext cx="10971637" cy="35974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GB" sz="2400" b="1" dirty="0"/>
              <a:t>Pneumonia</a:t>
            </a:r>
            <a:r>
              <a:rPr lang="en-GB" sz="2400" dirty="0"/>
              <a:t> is an infectious disease causing inflammation in the air sacs of the lungs.</a:t>
            </a:r>
          </a:p>
          <a:p>
            <a:pPr marL="0" indent="0" algn="just">
              <a:buNone/>
            </a:pPr>
            <a:r>
              <a:rPr lang="en-GB" sz="2400" b="1" dirty="0"/>
              <a:t>Symptoms: </a:t>
            </a:r>
            <a:r>
              <a:rPr lang="en-GB" sz="2400" dirty="0"/>
              <a:t>Cough, fever, chest pain, and breathing difficulty.</a:t>
            </a:r>
          </a:p>
          <a:p>
            <a:pPr marL="0" indent="0" algn="just">
              <a:buNone/>
            </a:pPr>
            <a:r>
              <a:rPr lang="en-GB" sz="2400" b="1" dirty="0"/>
              <a:t>Challenge: </a:t>
            </a:r>
            <a:r>
              <a:rPr lang="en-GB" sz="2400" dirty="0"/>
              <a:t>Traditional diagnosis is manual and requires expert radiologists.</a:t>
            </a:r>
          </a:p>
          <a:p>
            <a:pPr marL="0" indent="0" algn="just">
              <a:buNone/>
            </a:pPr>
            <a:r>
              <a:rPr lang="en-GB" sz="2400" b="1" dirty="0"/>
              <a:t>Goal of the project: </a:t>
            </a:r>
            <a:r>
              <a:rPr lang="en-GB" sz="2400" dirty="0"/>
              <a:t>Develop a </a:t>
            </a:r>
            <a:r>
              <a:rPr lang="en-GB" sz="2400" b="1" dirty="0"/>
              <a:t>deep learning-based automatic system</a:t>
            </a:r>
            <a:r>
              <a:rPr lang="en-GB" sz="2400" dirty="0"/>
              <a:t> for pneumonia detection using </a:t>
            </a:r>
            <a:r>
              <a:rPr lang="en-GB" sz="2400" b="1" dirty="0"/>
              <a:t>MobileNetV2</a:t>
            </a:r>
            <a:r>
              <a:rPr lang="en-GB" sz="2400" dirty="0"/>
              <a:t>, enabling faster and accurate diagnosis.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IN" dirty="0"/>
              <a:t>Problem Statement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C13718-AA71-6D2B-D195-1F9A54A2176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59" y="2615565"/>
            <a:ext cx="10957561" cy="3597470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Manual interpretation is:</a:t>
            </a:r>
          </a:p>
          <a:p>
            <a:pPr lvl="3" algn="just"/>
            <a:r>
              <a:rPr lang="en-IN" sz="2400" dirty="0"/>
              <a:t>Time-consuming</a:t>
            </a:r>
          </a:p>
          <a:p>
            <a:pPr lvl="3" algn="just"/>
            <a:r>
              <a:rPr lang="en-IN" sz="2400" dirty="0"/>
              <a:t>Subject to human error</a:t>
            </a:r>
          </a:p>
          <a:p>
            <a:pPr lvl="3" algn="just"/>
            <a:r>
              <a:rPr lang="en-GB" sz="2400" dirty="0"/>
              <a:t>Limited in availability (especially in rural/low-resource settings)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Radiologists may misclassify bacterial vs viral pneumonia.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The project aims to build a </a:t>
            </a:r>
            <a:r>
              <a:rPr lang="en-GB" sz="2400" b="1" dirty="0"/>
              <a:t>mobile-compatible, AI-powered tool</a:t>
            </a:r>
            <a:r>
              <a:rPr lang="en-GB" sz="2400" dirty="0"/>
              <a:t> that supports real-time and remote diagnosis.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4D0E2-01BC-BAEC-0284-1C83976C7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3350D6-77F7-5DC1-0B5A-3B2E2CE90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 of the Project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59302A-5ECD-A60B-FD05-78D0164BEF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2" y="2473324"/>
            <a:ext cx="10971637" cy="4181476"/>
          </a:xfrm>
        </p:spPr>
        <p:txBody>
          <a:bodyPr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400" dirty="0"/>
              <a:t>Automate pneumonia diagnosis using chest X-rays.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400" dirty="0"/>
              <a:t>Classify X-rays into three categories:</a:t>
            </a:r>
          </a:p>
          <a:p>
            <a:pPr marL="971550" lvl="1" indent="-285750" algn="just"/>
            <a:r>
              <a:rPr lang="en-IN" sz="2400" dirty="0"/>
              <a:t>Normal</a:t>
            </a:r>
            <a:endParaRPr lang="en-GB" sz="2400" dirty="0"/>
          </a:p>
          <a:p>
            <a:pPr marL="971550" lvl="1" indent="-285750" algn="just"/>
            <a:r>
              <a:rPr lang="en-IN" sz="2400" dirty="0"/>
              <a:t>Bacterial Pneumonia</a:t>
            </a:r>
            <a:endParaRPr lang="en-GB" sz="2400" dirty="0"/>
          </a:p>
          <a:p>
            <a:pPr marL="971550" lvl="1" indent="-285750" algn="just"/>
            <a:r>
              <a:rPr lang="en-IN" sz="2400" dirty="0"/>
              <a:t>Viral Pneumonia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Compare two approaches:</a:t>
            </a:r>
          </a:p>
          <a:p>
            <a:pPr marL="971550" lvl="1" indent="-285750" algn="just"/>
            <a:r>
              <a:rPr lang="en-IN" sz="2400" dirty="0"/>
              <a:t>Without Preprocessing (raw X-rays)</a:t>
            </a:r>
          </a:p>
          <a:p>
            <a:pPr marL="971550" lvl="1" indent="-285750" algn="just"/>
            <a:r>
              <a:rPr lang="en-GB" sz="2400" dirty="0"/>
              <a:t>With Preprocessing (CLAHE + Median Filtering)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400" dirty="0"/>
              <a:t>Deploy the best model in a mobile app for practical usage.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995855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IN" dirty="0"/>
              <a:t>Dataset Description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6FB3A-B62C-3DAB-4FD1-B4EBDD650A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60" y="2422042"/>
            <a:ext cx="10971637" cy="4263238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1800" b="1" dirty="0"/>
              <a:t>Dataset Source: </a:t>
            </a:r>
            <a:r>
              <a:rPr lang="en-IN" sz="1800" dirty="0"/>
              <a:t>Kaggle - Chest X-ray Images (Pneumonia)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1800" b="1" dirty="0"/>
              <a:t>Total Images: </a:t>
            </a:r>
            <a:r>
              <a:rPr lang="fr-FR" sz="1800" dirty="0"/>
              <a:t>7927 grayscale chest X-rays</a:t>
            </a:r>
            <a:endParaRPr lang="en-IN" sz="1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1800" b="1" dirty="0"/>
              <a:t>Three categories:</a:t>
            </a:r>
          </a:p>
          <a:p>
            <a:pPr marL="1028700" lvl="1" indent="-342900" algn="just"/>
            <a:r>
              <a:rPr lang="en-IN" sz="1800" dirty="0"/>
              <a:t>Normal</a:t>
            </a:r>
          </a:p>
          <a:p>
            <a:pPr marL="1028700" lvl="1" indent="-342900" algn="just"/>
            <a:r>
              <a:rPr lang="en-IN" sz="1800" dirty="0"/>
              <a:t>Bacterial Pneumonia</a:t>
            </a:r>
          </a:p>
          <a:p>
            <a:pPr marL="1028700" lvl="1" indent="-342900" algn="just"/>
            <a:r>
              <a:rPr lang="en-IN" sz="1800" dirty="0"/>
              <a:t>Viral Pneumonia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1800" b="1" dirty="0"/>
              <a:t>Split:</a:t>
            </a:r>
          </a:p>
          <a:p>
            <a:pPr marL="1028700" lvl="1" indent="-342900" algn="just"/>
            <a:r>
              <a:rPr lang="en-IN" sz="1800" dirty="0"/>
              <a:t>70% Training</a:t>
            </a:r>
          </a:p>
          <a:p>
            <a:pPr marL="1028700" lvl="1" indent="-342900" algn="just"/>
            <a:r>
              <a:rPr lang="en-IN" sz="1800" dirty="0"/>
              <a:t>20% Validation</a:t>
            </a:r>
          </a:p>
          <a:p>
            <a:pPr marL="1028700" lvl="1" indent="-342900" algn="just"/>
            <a:r>
              <a:rPr lang="en-IN" sz="1800" dirty="0"/>
              <a:t>10% Testing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800" b="1" dirty="0"/>
              <a:t>Format:</a:t>
            </a:r>
            <a:r>
              <a:rPr lang="en-GB" sz="1800" dirty="0"/>
              <a:t> Grayscale, organized into folders by class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0E42A-91A6-2CC9-2606-222A3B0FB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A4A09B-69E6-0A1D-846C-43E562DD4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Preprocessing Techniques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DB290C5-E154-14C8-903D-48368590018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432684"/>
            <a:ext cx="10967720" cy="4181475"/>
          </a:xfrm>
        </p:spPr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GB" sz="1800" b="1" dirty="0"/>
              <a:t>CLAHE (Contrast Limited Adaptive Histogram Equalization)</a:t>
            </a:r>
          </a:p>
          <a:p>
            <a:pPr marL="1051560" lvl="2" indent="-457200" algn="just"/>
            <a:r>
              <a:rPr lang="en-GB" sz="1800" dirty="0"/>
              <a:t>Enhances contrast locally in X-rays and it helps highlight important features like lung infiltrates</a:t>
            </a:r>
          </a:p>
          <a:p>
            <a:pPr marL="1051560" lvl="2" indent="-457200" algn="just"/>
            <a:r>
              <a:rPr lang="en-GB" sz="1800" dirty="0"/>
              <a:t>Clip Limit: 0.01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1800" b="1" dirty="0"/>
              <a:t>Median Filtering</a:t>
            </a:r>
            <a:endParaRPr lang="en-GB" sz="1800" b="1" dirty="0"/>
          </a:p>
          <a:p>
            <a:pPr marL="1051560" lvl="2" indent="-457200" algn="just"/>
            <a:r>
              <a:rPr lang="en-GB" sz="1800" dirty="0"/>
              <a:t>Removes noise while preserving edges</a:t>
            </a:r>
          </a:p>
          <a:p>
            <a:pPr marL="1051560" lvl="2" indent="-457200" algn="just"/>
            <a:r>
              <a:rPr lang="en-GB" sz="1800" dirty="0"/>
              <a:t>Kernel size: 1 (light smoothing)</a:t>
            </a:r>
            <a:endParaRPr lang="en-US" sz="1800" dirty="0"/>
          </a:p>
          <a:p>
            <a:pPr algn="just"/>
            <a:r>
              <a:rPr lang="en-IN" sz="1800" b="1" dirty="0"/>
              <a:t>Evaluation:</a:t>
            </a:r>
            <a:endParaRPr lang="en-US" sz="18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Used </a:t>
            </a:r>
            <a:r>
              <a:rPr lang="en-GB" sz="1800" b="1" dirty="0"/>
              <a:t>PSNR (Peak Signal-to-Noise Ratio)</a:t>
            </a:r>
            <a:r>
              <a:rPr lang="en-GB" sz="1800" dirty="0"/>
              <a:t> to measure image quality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Achieved </a:t>
            </a:r>
            <a:r>
              <a:rPr lang="en-GB" sz="1800" b="1" dirty="0"/>
              <a:t>average PSNR of 48.86 dB</a:t>
            </a:r>
            <a:r>
              <a:rPr lang="en-GB" sz="1800" dirty="0"/>
              <a:t>, indicating excellent image enhancement</a:t>
            </a:r>
          </a:p>
        </p:txBody>
      </p:sp>
    </p:spTree>
    <p:extLst>
      <p:ext uri="{BB962C8B-B14F-4D97-AF65-F5344CB8AC3E}">
        <p14:creationId xmlns:p14="http://schemas.microsoft.com/office/powerpoint/2010/main" val="9291964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AD897-F5E4-FBFF-3F94-314E63E28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00DC3-FEA3-78AC-E439-C374F3A0E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IN" dirty="0"/>
              <a:t>Model Selection - MobileNetV2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6434C-D1D5-34F5-D2CA-69467634B9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59" y="2392045"/>
            <a:ext cx="10971637" cy="4465956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b="1" dirty="0"/>
              <a:t>MobileNetV2: </a:t>
            </a:r>
            <a:r>
              <a:rPr lang="en-GB" sz="2200" dirty="0"/>
              <a:t>A lightweight convolutional neural network (CNN)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Designed for </a:t>
            </a:r>
            <a:r>
              <a:rPr lang="en-GB" sz="2200" b="1" dirty="0"/>
              <a:t>mobile </a:t>
            </a:r>
            <a:r>
              <a:rPr lang="en-GB" sz="2200" dirty="0"/>
              <a:t>and </a:t>
            </a:r>
            <a:r>
              <a:rPr lang="en-GB" sz="2200" b="1" dirty="0"/>
              <a:t>embedded devices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/>
              <a:t>Key Features:</a:t>
            </a:r>
          </a:p>
          <a:p>
            <a:pPr marL="1028700" lvl="1" indent="-342900" algn="just"/>
            <a:r>
              <a:rPr lang="en-IN" sz="2200" dirty="0"/>
              <a:t>Depth-wise separable convolutions</a:t>
            </a:r>
          </a:p>
          <a:p>
            <a:pPr marL="1028700" lvl="1" indent="-342900" algn="just"/>
            <a:r>
              <a:rPr lang="en-GB" sz="2200" dirty="0"/>
              <a:t>Low latency and memory usage</a:t>
            </a:r>
          </a:p>
          <a:p>
            <a:pPr marL="1028700" lvl="1" indent="-342900" algn="just"/>
            <a:r>
              <a:rPr lang="en-IN" sz="2200" dirty="0"/>
              <a:t>Good accuracy-to-size ratio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/>
              <a:t>Frameworks Used:</a:t>
            </a:r>
          </a:p>
          <a:p>
            <a:pPr marL="1028700" lvl="1" indent="-342900" algn="just"/>
            <a:r>
              <a:rPr lang="en-IN" sz="2200" dirty="0"/>
              <a:t>TensorFlow</a:t>
            </a:r>
          </a:p>
          <a:p>
            <a:pPr marL="1028700" lvl="1" indent="-342900" algn="just"/>
            <a:r>
              <a:rPr lang="en-IN" sz="2200" dirty="0" err="1"/>
              <a:t>Keras</a:t>
            </a:r>
            <a:endParaRPr lang="en-IN" sz="2200" dirty="0"/>
          </a:p>
          <a:p>
            <a:pPr marL="1028700" lvl="1" indent="-342900" algn="just"/>
            <a:r>
              <a:rPr lang="en-IN" sz="2200" dirty="0"/>
              <a:t>Google </a:t>
            </a:r>
            <a:r>
              <a:rPr lang="en-IN" sz="2200" dirty="0" err="1"/>
              <a:t>Colab</a:t>
            </a:r>
            <a:r>
              <a:rPr lang="en-IN" sz="2200" dirty="0"/>
              <a:t> for training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1574243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692495-413E-CC60-494A-63B255F5F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Flow Chart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56CD670-A604-DD3C-D6C0-7D471C293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739" y="1267140"/>
            <a:ext cx="5350042" cy="513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4887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23FAA-C965-DF69-D2F0-1ABA45961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5D5912-6BEB-B074-7FE8-246E8B390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Training Setup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F88C58-5D76-2BC3-99AA-42ECDC3AC3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2" y="2676525"/>
            <a:ext cx="10971637" cy="3597470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b="1" dirty="0"/>
              <a:t>Input Image Size: </a:t>
            </a:r>
            <a:r>
              <a:rPr lang="en-IN" dirty="0"/>
              <a:t>128x128 pixels (RGB)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b="1" dirty="0"/>
              <a:t>Batch Size: </a:t>
            </a:r>
            <a:r>
              <a:rPr lang="en-IN" dirty="0"/>
              <a:t>32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b="1" dirty="0"/>
              <a:t>Epochs:</a:t>
            </a:r>
            <a:r>
              <a:rPr lang="en-IN" dirty="0"/>
              <a:t> 25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b="1" dirty="0"/>
              <a:t>Optimizer: </a:t>
            </a:r>
            <a:r>
              <a:rPr lang="en-GB" dirty="0"/>
              <a:t>Adam (learning rate = 0.0001)</a:t>
            </a:r>
            <a:endParaRPr lang="en-IN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b="1" dirty="0"/>
              <a:t>Loss Function: </a:t>
            </a:r>
            <a:r>
              <a:rPr lang="en-IN" dirty="0"/>
              <a:t>Categorical Cross - entropy</a:t>
            </a: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/>
              <a:t>Trained in two scenarios:</a:t>
            </a:r>
          </a:p>
          <a:p>
            <a:pPr marL="1028700" lvl="1" indent="-342900" algn="just"/>
            <a:r>
              <a:rPr lang="en-IN" b="1" dirty="0"/>
              <a:t>Without Preprocessing</a:t>
            </a:r>
          </a:p>
          <a:p>
            <a:pPr marL="1028700" lvl="1" indent="-342900" algn="just"/>
            <a:r>
              <a:rPr lang="en-GB" b="1" dirty="0"/>
              <a:t>With Preprocessing (CLAHE + Median Filter)</a:t>
            </a:r>
          </a:p>
        </p:txBody>
      </p:sp>
    </p:spTree>
    <p:extLst>
      <p:ext uri="{BB962C8B-B14F-4D97-AF65-F5344CB8AC3E}">
        <p14:creationId xmlns:p14="http://schemas.microsoft.com/office/powerpoint/2010/main" val="39673675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AB9C34-2B13-E66F-1053-2BA156F89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Comparison</a:t>
            </a:r>
            <a:endParaRPr lang="en-US" dirty="0"/>
          </a:p>
        </p:txBody>
      </p:sp>
      <p:graphicFrame>
        <p:nvGraphicFramePr>
          <p:cNvPr id="8" name="Table Placeholder 2">
            <a:extLst>
              <a:ext uri="{FF2B5EF4-FFF2-40B4-BE49-F238E27FC236}">
                <a16:creationId xmlns:a16="http://schemas.microsoft.com/office/drawing/2014/main" id="{C60AA2D2-28D7-69D7-F6C5-B31DAD3332C1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3573710568"/>
              </p:ext>
            </p:extLst>
          </p:nvPr>
        </p:nvGraphicFramePr>
        <p:xfrm>
          <a:off x="593725" y="2676525"/>
          <a:ext cx="10873740" cy="2440574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624580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3624580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3624580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</a:tblGrid>
              <a:tr h="51137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Accuracy (without Preprocessing)</a:t>
                      </a:r>
                      <a:endParaRPr lang="en-US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Accuracy (With Preprocessing)</a:t>
                      </a:r>
                      <a:endParaRPr lang="en-US" b="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708914">
                <a:tc>
                  <a:txBody>
                    <a:bodyPr/>
                    <a:lstStyle/>
                    <a:p>
                      <a:pPr algn="l"/>
                      <a:r>
                        <a:rPr lang="en-IN"/>
                        <a:t>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94%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/>
                        <a:t>99%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708914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84%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86%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11373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83%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84%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</a:tbl>
          </a:graphicData>
        </a:graphic>
      </p:graphicFrame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1A9FFD0-9329-39BA-554A-18C5AC4EA2A2}"/>
              </a:ext>
            </a:extLst>
          </p:cNvPr>
          <p:cNvSpPr txBox="1">
            <a:spLocks/>
          </p:cNvSpPr>
          <p:nvPr/>
        </p:nvSpPr>
        <p:spPr>
          <a:xfrm>
            <a:off x="594360" y="5347054"/>
            <a:ext cx="10873740" cy="11887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/>
            <a:r>
              <a:rPr lang="en-GB" sz="2400" b="1" dirty="0"/>
              <a:t>F1 Score improved</a:t>
            </a:r>
            <a:r>
              <a:rPr lang="en-GB" sz="2400" dirty="0"/>
              <a:t> from </a:t>
            </a:r>
            <a:r>
              <a:rPr lang="en-GB" sz="2400" b="1" dirty="0"/>
              <a:t>83% → 84%</a:t>
            </a:r>
            <a:r>
              <a:rPr lang="en-GB" sz="2400" dirty="0"/>
              <a:t> with preprocessing</a:t>
            </a:r>
          </a:p>
          <a:p>
            <a:pPr marL="342900" indent="-342900" algn="just"/>
            <a:r>
              <a:rPr lang="en-GB" sz="2400" dirty="0"/>
              <a:t>Preprocessing enhanced model’s ability to identify subtle lung patterns</a:t>
            </a:r>
          </a:p>
        </p:txBody>
      </p:sp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60941-0403-3219-0D71-E4DD196EC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4A53D-B200-BAA3-243F-742999FFA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IN" dirty="0"/>
              <a:t>Evaluation Metrics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161C0-5253-DABD-0C25-EC2683A6CD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2" y="2676525"/>
            <a:ext cx="10971637" cy="3013075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/>
              <a:t>Accuracy: </a:t>
            </a:r>
            <a:r>
              <a:rPr lang="en-IN" sz="2400" dirty="0"/>
              <a:t>Overall correct predictions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b="1" dirty="0"/>
              <a:t>Precision: </a:t>
            </a:r>
            <a:r>
              <a:rPr lang="en-GB" sz="2400" dirty="0"/>
              <a:t>Correct positives over all predicted positives</a:t>
            </a:r>
            <a:endParaRPr lang="en-IN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b="1" dirty="0"/>
              <a:t>Recall:</a:t>
            </a:r>
            <a:r>
              <a:rPr lang="en-GB" sz="2400" dirty="0"/>
              <a:t> Correct positives over all actual positives</a:t>
            </a:r>
            <a:endParaRPr lang="en-IN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b="1" dirty="0"/>
              <a:t>F1 Score:</a:t>
            </a:r>
            <a:r>
              <a:rPr lang="en-GB" sz="2400" dirty="0"/>
              <a:t> Balance between Precision and Recall</a:t>
            </a:r>
            <a:endParaRPr lang="en-IN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/>
              <a:t>Confusion Matrix:</a:t>
            </a:r>
            <a:r>
              <a:rPr lang="en-IN" sz="2400" dirty="0"/>
              <a:t> Visualizes misclassifications between classes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122833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1CC53-818A-E304-37DE-8119644A6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F8E673-D213-5B8F-7F4B-55E3EC508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/>
          <a:lstStyle/>
          <a:p>
            <a:r>
              <a:rPr lang="en-IN" dirty="0"/>
              <a:t>Evaluation Metrics</a:t>
            </a:r>
            <a:endParaRPr lang="en-US" dirty="0"/>
          </a:p>
        </p:txBody>
      </p:sp>
      <p:graphicFrame>
        <p:nvGraphicFramePr>
          <p:cNvPr id="8" name="Table Placeholder 2">
            <a:extLst>
              <a:ext uri="{FF2B5EF4-FFF2-40B4-BE49-F238E27FC236}">
                <a16:creationId xmlns:a16="http://schemas.microsoft.com/office/drawing/2014/main" id="{4F615C6E-15A5-AD93-DEE2-5DF082DD1F7F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2445751496"/>
              </p:ext>
            </p:extLst>
          </p:nvPr>
        </p:nvGraphicFramePr>
        <p:xfrm>
          <a:off x="914400" y="2984500"/>
          <a:ext cx="10535920" cy="2522219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633980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633980">
                  <a:extLst>
                    <a:ext uri="{9D8B030D-6E8A-4147-A177-3AD203B41FA5}">
                      <a16:colId xmlns:a16="http://schemas.microsoft.com/office/drawing/2014/main" val="2488974842"/>
                    </a:ext>
                  </a:extLst>
                </a:gridCol>
                <a:gridCol w="2633980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633980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</a:tblGrid>
              <a:tr h="60731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1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IN" sz="2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1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Precision (%)</a:t>
                      </a:r>
                      <a:endParaRPr lang="en-IN" sz="2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1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Recall (%)</a:t>
                      </a:r>
                      <a:endParaRPr lang="en-IN" sz="2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1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F1-Score (%)</a:t>
                      </a:r>
                      <a:endParaRPr lang="en-IN" sz="2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95745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With Preprocess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84%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84%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84%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95745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Without Preprocess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83%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83%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83%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68008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CA11C65-364E-9C35-D7E8-C46153D9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Accuracy and Loss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E6DCC5E-E5D2-731C-A69D-447E199D4D38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25" y="2808448"/>
            <a:ext cx="4491038" cy="3333428"/>
          </a:xfr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1DA7B9C3-506B-B363-F7F3-5AD44CF6651D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688" y="2807403"/>
            <a:ext cx="4491037" cy="3335518"/>
          </a:xfrm>
        </p:spPr>
      </p:pic>
    </p:spTree>
    <p:extLst>
      <p:ext uri="{BB962C8B-B14F-4D97-AF65-F5344CB8AC3E}">
        <p14:creationId xmlns:p14="http://schemas.microsoft.com/office/powerpoint/2010/main" val="13448381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BD2EC-8E62-04F3-5AEF-D40AF2046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4089FF-EC34-FB3C-96B3-E98587D97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Mobile App Deployment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89EC546-36E5-4EB9-0147-AB3EAD794A2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10927080" cy="3597470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Model converted using </a:t>
            </a:r>
            <a:r>
              <a:rPr lang="en-GB" sz="2400" b="1" dirty="0"/>
              <a:t>TensorFlow Lite (.</a:t>
            </a:r>
            <a:r>
              <a:rPr lang="en-GB" sz="2400" b="1" dirty="0" err="1"/>
              <a:t>tflite</a:t>
            </a:r>
            <a:r>
              <a:rPr lang="en-GB" sz="2400" b="1" dirty="0"/>
              <a:t>) </a:t>
            </a:r>
            <a:r>
              <a:rPr lang="en-GB" sz="2400" dirty="0"/>
              <a:t>format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b="1" dirty="0"/>
              <a:t>Android App </a:t>
            </a:r>
            <a:r>
              <a:rPr lang="en-GB" sz="2400" dirty="0"/>
              <a:t>developed using Android Studio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Key Features:</a:t>
            </a:r>
          </a:p>
          <a:p>
            <a:pPr marL="937260" lvl="2" indent="-342900" algn="just"/>
            <a:r>
              <a:rPr lang="en-IN" sz="2400" dirty="0"/>
              <a:t>Upload X-ray</a:t>
            </a:r>
          </a:p>
          <a:p>
            <a:pPr marL="937260" lvl="2" indent="-342900" algn="just"/>
            <a:r>
              <a:rPr lang="en-GB" sz="2400" dirty="0"/>
              <a:t>View real-time prediction (Normal/Bacterial/Viral)</a:t>
            </a:r>
            <a:endParaRPr lang="en-IN" sz="2400" dirty="0"/>
          </a:p>
          <a:p>
            <a:pPr marL="937260" lvl="2" indent="-342900" algn="just"/>
            <a:r>
              <a:rPr lang="en-IN" sz="2400" dirty="0"/>
              <a:t>Lightweight and offline-capable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Simple UI for use by healthcare workers</a:t>
            </a:r>
          </a:p>
        </p:txBody>
      </p:sp>
    </p:spTree>
    <p:extLst>
      <p:ext uri="{BB962C8B-B14F-4D97-AF65-F5344CB8AC3E}">
        <p14:creationId xmlns:p14="http://schemas.microsoft.com/office/powerpoint/2010/main" val="10282374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28520-2D89-052A-FE01-04CA56F33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Screenshots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B80D364-C29F-2AD6-3BAB-D6EAD929D290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2676525"/>
            <a:ext cx="2465782" cy="3597275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0DD8F0E-2973-20EA-3E5F-496064FB7F4B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180" y="2676523"/>
            <a:ext cx="2465782" cy="3597275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3CCA147-FB22-74CC-A9D9-5E4E437225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974" y="2676523"/>
            <a:ext cx="2465782" cy="35972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46DFF91-4E6A-9106-9950-079577D3EE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9794" y="2676523"/>
            <a:ext cx="2465782" cy="359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3734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7D2D-4157-A728-C2D2-172CC3E27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84A40-0C65-C5EF-5AB2-93DE57445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Screenshots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78A1D7A-03F3-F282-F4A0-A2450C262829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789" y="2676521"/>
            <a:ext cx="2465782" cy="3597275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DBA2FE-1820-B9F1-4D17-A1BA2D5CB4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429" y="2676521"/>
            <a:ext cx="2465782" cy="35972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4852D55-3167-463D-BE6B-E4FA1C46B4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3109" y="2676520"/>
            <a:ext cx="2465782" cy="359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2886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2EACF-2ACC-FEA7-D6EE-DA40F0CDF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7A640-5A7C-A72C-7BA6-C4B750414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IN" dirty="0"/>
              <a:t>Implementation Details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4481E-BA89-7427-BA49-552823CA89E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2" y="2676525"/>
            <a:ext cx="10971637" cy="3084195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b="1" dirty="0"/>
              <a:t>Preprocessing in Python (OpenCV, NumPy)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/>
              <a:t>Model Training in Google </a:t>
            </a:r>
            <a:r>
              <a:rPr lang="en-IN" sz="2400" b="1" dirty="0" err="1"/>
              <a:t>Colab</a:t>
            </a:r>
            <a:endParaRPr lang="en-GB" sz="24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/>
              <a:t>App Backend</a:t>
            </a:r>
            <a:r>
              <a:rPr lang="en-IN" sz="2400" dirty="0"/>
              <a:t>: Java (for TensorFlow Lite integration)</a:t>
            </a:r>
            <a:endParaRPr lang="en-GB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/>
              <a:t>Frontend UI</a:t>
            </a:r>
            <a:r>
              <a:rPr lang="en-IN" sz="2400" dirty="0"/>
              <a:t>: XML</a:t>
            </a:r>
            <a:endParaRPr lang="en-GB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App tested on multiple Android devices for compatibility and performance</a:t>
            </a:r>
          </a:p>
        </p:txBody>
      </p:sp>
    </p:spTree>
    <p:extLst>
      <p:ext uri="{BB962C8B-B14F-4D97-AF65-F5344CB8AC3E}">
        <p14:creationId xmlns:p14="http://schemas.microsoft.com/office/powerpoint/2010/main" val="11594728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06C35-BB2F-04A2-8247-159E77F20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806186-50DB-7E7D-6047-24A771B7E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the System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82379A-DE79-2093-6C74-4F72827D411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10947400" cy="2941955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Accurate classification using MobileNetV2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Preprocessing improves diagnostic clarity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Can be used in low-resource regions</a:t>
            </a:r>
            <a:endParaRPr lang="en-IN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Helps reduce burden on radiologists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Portable, scalable, and real-time detection</a:t>
            </a:r>
          </a:p>
        </p:txBody>
      </p:sp>
    </p:spTree>
    <p:extLst>
      <p:ext uri="{BB962C8B-B14F-4D97-AF65-F5344CB8AC3E}">
        <p14:creationId xmlns:p14="http://schemas.microsoft.com/office/powerpoint/2010/main" val="17912370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794C3-633F-EAB4-AD58-56E3395B7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64A2-6934-721E-5BB8-22BA9B74C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IN" dirty="0"/>
              <a:t>Future Enhancements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EE452-1C28-57FE-A62F-0EBBF6FE817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2" y="2432684"/>
            <a:ext cx="10971637" cy="4425316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1800" dirty="0"/>
              <a:t>Extend model to detect:</a:t>
            </a:r>
          </a:p>
          <a:p>
            <a:pPr marL="1028700" lvl="1" indent="-342900" algn="just"/>
            <a:r>
              <a:rPr lang="en-IN" sz="1800" dirty="0"/>
              <a:t>Tuberculosis</a:t>
            </a:r>
          </a:p>
          <a:p>
            <a:pPr marL="1028700" lvl="1" indent="-342900" algn="just"/>
            <a:r>
              <a:rPr lang="en-IN" sz="1800" dirty="0"/>
              <a:t>COVID-19</a:t>
            </a:r>
          </a:p>
          <a:p>
            <a:pPr marL="1028700" lvl="1" indent="-342900" algn="just"/>
            <a:r>
              <a:rPr lang="en-IN" sz="1800" dirty="0"/>
              <a:t>Lung cancer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Integrate </a:t>
            </a:r>
            <a:r>
              <a:rPr lang="en-GB" sz="1800" b="1" dirty="0"/>
              <a:t>Grad-CAM</a:t>
            </a:r>
            <a:r>
              <a:rPr lang="en-GB" sz="1800" dirty="0"/>
              <a:t> for visual explainability</a:t>
            </a:r>
            <a:endParaRPr lang="en-IN" sz="1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Add </a:t>
            </a:r>
            <a:r>
              <a:rPr lang="en-GB" sz="1800" b="1" dirty="0"/>
              <a:t>confidence scores </a:t>
            </a:r>
            <a:r>
              <a:rPr lang="en-GB" sz="1800" dirty="0"/>
              <a:t>to predictions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1800" dirty="0"/>
              <a:t>Enable </a:t>
            </a:r>
            <a:r>
              <a:rPr lang="en-IN" sz="1800" b="1" dirty="0"/>
              <a:t>live camera capture</a:t>
            </a:r>
            <a:endParaRPr lang="en-GB" sz="18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1800" dirty="0"/>
              <a:t>Cloud integration (Firebase/AWS)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1800" b="1" dirty="0"/>
              <a:t>Voice &amp; regional language</a:t>
            </a:r>
            <a:r>
              <a:rPr lang="en-IN" sz="1800" dirty="0"/>
              <a:t> support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EHR (Electronic Health Record) functionality</a:t>
            </a:r>
          </a:p>
        </p:txBody>
      </p:sp>
    </p:spTree>
    <p:extLst>
      <p:ext uri="{BB962C8B-B14F-4D97-AF65-F5344CB8AC3E}">
        <p14:creationId xmlns:p14="http://schemas.microsoft.com/office/powerpoint/2010/main" val="22876331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EBB5E-99ED-4830-B396-781E6AEF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DB7315-D210-58A4-1925-7DD0CA2F3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FCF6779-420D-E565-4040-1A31285C395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10988040" cy="2657475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This project demonstrates how </a:t>
            </a:r>
            <a:r>
              <a:rPr lang="en-GB" sz="2400" b="1" dirty="0"/>
              <a:t>deep learning </a:t>
            </a:r>
            <a:r>
              <a:rPr lang="en-GB" sz="2400" dirty="0"/>
              <a:t>and </a:t>
            </a:r>
            <a:r>
              <a:rPr lang="en-GB" sz="2400" b="1" dirty="0"/>
              <a:t>mobile technology</a:t>
            </a:r>
            <a:r>
              <a:rPr lang="en-GB" sz="2400" dirty="0"/>
              <a:t> can assist in </a:t>
            </a:r>
            <a:r>
              <a:rPr lang="en-GB" sz="2400" b="1" dirty="0"/>
              <a:t>early detection of pneumonia</a:t>
            </a:r>
            <a:r>
              <a:rPr lang="en-GB" sz="24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CLAHE and Median filtering improve image clarity and model accuracy.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b="1" dirty="0"/>
              <a:t>MobileNetV2</a:t>
            </a:r>
            <a:r>
              <a:rPr lang="en-GB" sz="2400" dirty="0"/>
              <a:t> achieves excellent results and enables </a:t>
            </a:r>
            <a:r>
              <a:rPr lang="en-GB" sz="2400" b="1" dirty="0"/>
              <a:t>mobile deployment</a:t>
            </a:r>
            <a:r>
              <a:rPr lang="en-GB" sz="24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The system bridges AI innovation with real-world medical diagnostics.</a:t>
            </a:r>
          </a:p>
        </p:txBody>
      </p:sp>
    </p:spTree>
    <p:extLst>
      <p:ext uri="{BB962C8B-B14F-4D97-AF65-F5344CB8AC3E}">
        <p14:creationId xmlns:p14="http://schemas.microsoft.com/office/powerpoint/2010/main" val="8462378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4E0C0-BD40-0159-468C-D8DC928CF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E3045B-98D9-FBF7-0320-83C4BFEA8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EC854C-40CF-EF50-4910-E32693C956A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1980" y="2398396"/>
            <a:ext cx="10988040" cy="4459604"/>
          </a:xfrm>
        </p:spPr>
        <p:txBody>
          <a:bodyPr>
            <a:noAutofit/>
          </a:bodyPr>
          <a:lstStyle/>
          <a:p>
            <a:pPr algn="just"/>
            <a:r>
              <a:rPr lang="en-IN" sz="2400" b="1" dirty="0"/>
              <a:t>Books:</a:t>
            </a:r>
          </a:p>
          <a:p>
            <a:pPr marL="937260" lvl="2" indent="-342900" algn="just"/>
            <a:r>
              <a:rPr lang="en-GB" sz="2400" dirty="0"/>
              <a:t>“Deep Learning” – Ian Goodfellow et al.</a:t>
            </a:r>
          </a:p>
          <a:p>
            <a:pPr marL="937260" lvl="2" indent="-342900" algn="just"/>
            <a:r>
              <a:rPr lang="en-IN" sz="2400" dirty="0"/>
              <a:t>“Deep Learning for Medical Image Analysis” – Zhou et al.</a:t>
            </a:r>
            <a:endParaRPr lang="en-GB" sz="2400" dirty="0"/>
          </a:p>
          <a:p>
            <a:pPr algn="just"/>
            <a:r>
              <a:rPr lang="en-IN" sz="2400" b="1" dirty="0"/>
              <a:t>Web Resources:</a:t>
            </a:r>
            <a:endParaRPr lang="en-GB" sz="2400" b="1" dirty="0"/>
          </a:p>
          <a:p>
            <a:pPr marL="937260" lvl="2" indent="-342900" algn="just"/>
            <a:r>
              <a:rPr lang="en-IN" sz="2400" dirty="0"/>
              <a:t>Kaggle: Chest X-ray Dataset</a:t>
            </a:r>
            <a:endParaRPr lang="en-GB" sz="2400" dirty="0"/>
          </a:p>
          <a:p>
            <a:pPr marL="937260" lvl="2" indent="-342900" algn="just"/>
            <a:r>
              <a:rPr lang="en-IN" sz="2400" dirty="0"/>
              <a:t>TensorFlow Lite Documentation</a:t>
            </a:r>
            <a:endParaRPr lang="en-GB" sz="2400" dirty="0"/>
          </a:p>
          <a:p>
            <a:pPr marL="937260" lvl="2" indent="-342900" algn="just"/>
            <a:r>
              <a:rPr lang="en-IN" sz="2400" dirty="0"/>
              <a:t>OpenCV: CLAHE</a:t>
            </a:r>
          </a:p>
          <a:p>
            <a:pPr marL="937260" lvl="2" indent="-342900" algn="just"/>
            <a:r>
              <a:rPr lang="en-IN" sz="2400" dirty="0"/>
              <a:t>Scikit-Image: Median Filtering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1728866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518</TotalTime>
  <Words>838</Words>
  <Application>Microsoft Office PowerPoint</Application>
  <PresentationFormat>Widescreen</PresentationFormat>
  <Paragraphs>188</Paragraphs>
  <Slides>23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Franklin Gothic Book</vt:lpstr>
      <vt:lpstr>Franklin Gothic Demi</vt:lpstr>
      <vt:lpstr>Custom</vt:lpstr>
      <vt:lpstr>PNEUMONIA DISEASE DETECTION USING MOBILENETV2 IN DEEP LEARNING</vt:lpstr>
      <vt:lpstr>Agenda</vt:lpstr>
      <vt:lpstr>Introduction</vt:lpstr>
      <vt:lpstr>Problem Statement</vt:lpstr>
      <vt:lpstr>Objective of the Project</vt:lpstr>
      <vt:lpstr>Dataset Description</vt:lpstr>
      <vt:lpstr>Image Preprocessing Techniques</vt:lpstr>
      <vt:lpstr>Model Selection - MobileNetV2</vt:lpstr>
      <vt:lpstr>Flow Chart</vt:lpstr>
      <vt:lpstr>Model Training Setup</vt:lpstr>
      <vt:lpstr>Performance Comparison</vt:lpstr>
      <vt:lpstr>Evaluation Metrics</vt:lpstr>
      <vt:lpstr>Evaluation Metrics</vt:lpstr>
      <vt:lpstr>Accuracy and Loss</vt:lpstr>
      <vt:lpstr>Mobile App Deployment</vt:lpstr>
      <vt:lpstr>Applications Screenshots</vt:lpstr>
      <vt:lpstr>Applications Screenshots</vt:lpstr>
      <vt:lpstr>Implementation Details</vt:lpstr>
      <vt:lpstr>Advantages of the System</vt:lpstr>
      <vt:lpstr>Future Enhancements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RAVIN RAJ</dc:creator>
  <cp:lastModifiedBy>RAVIN RAJ</cp:lastModifiedBy>
  <cp:revision>9</cp:revision>
  <dcterms:created xsi:type="dcterms:W3CDTF">2025-05-20T16:01:08Z</dcterms:created>
  <dcterms:modified xsi:type="dcterms:W3CDTF">2025-05-22T07:14:40Z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